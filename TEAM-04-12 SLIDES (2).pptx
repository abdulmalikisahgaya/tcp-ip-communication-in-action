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Noto Sans" panose="020B0502040504020204" pitchFamily="34" charset="0"/>
      <p:regular r:id="rId18"/>
    </p:embeddedFont>
    <p:embeddedFont>
      <p:font typeface="Noto Sans Bold" panose="020B0604020202020204" charset="0"/>
      <p:regular r:id="rId19"/>
    </p:embeddedFont>
    <p:embeddedFont>
      <p:font typeface="Noto Sans Medium" panose="020B0604020202020204" charset="0"/>
      <p:regular r:id="rId20"/>
    </p:embeddedFont>
    <p:embeddedFont>
      <p:font typeface="Noto Serif Devanagari" panose="020B0604020202020204" charset="0"/>
      <p:regular r:id="rId21"/>
    </p:embeddedFont>
    <p:embeddedFont>
      <p:font typeface="Noto Serif Devanagari Black" panose="020B0604020202020204" charset="0"/>
      <p:regular r:id="rId22"/>
    </p:embeddedFont>
    <p:embeddedFont>
      <p:font typeface="Noto Serif Devanagari Bold" panose="020B0604020202020204" charset="0"/>
      <p:regular r:id="rId23"/>
    </p:embeddedFont>
    <p:embeddedFont>
      <p:font typeface="Noto Serif Devanagari ExtraBold" panose="020B0604020202020204" charset="0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1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1493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scenario: one secure page load looks simple to the user, but it activates every TCP/IP layer from DNS through HTTPS.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route before discussing protocols. The rest of the deck follows this one request from the laptop to the web server and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downward. The PDU changes as each lower layer adds the information it needs to move the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important mapping is at the top: OSI separates application, presentation and session; TCP/IP treats them together as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scopes: URL is the human name, DNS finds the IP, IP routes between networks, MAC delivers locally, and ports select the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this slide room. The request crosses local access, routing, the internet and firewall controls before the web server unwraps it. The response returns along the reverse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each layer only reads the information meant for it. The server removes headers in the reverse order and passes the HTTP request to the web software.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table as a protocol checklist. DNS finds the destination, TLS protects the exchange, HTTPS carries content, and TCP/IP/Ethernet move it reliably to the server.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TCP adds delay and a larger header, but a browser needs the complete ordered stream. UDP is useful when speed matters more than retransmitting every missing piece.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physical connection and move upward. A successful ping to 8.8.8.8 but failed name lookup isolates DNS. Close with the available remediation actions and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DCC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4DCC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498600"/>
            <a:ext cx="6349841" cy="4191000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3" name="Text 1"/>
          <p:cNvSpPr/>
          <p:nvPr/>
        </p:nvSpPr>
        <p:spPr>
          <a:xfrm>
            <a:off x="965176" y="1647144"/>
            <a:ext cx="624824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WADF105 · GROUP- TEAM-04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65176" y="2105025"/>
            <a:ext cx="5638659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0" spc="-88" dirty="0">
                <a:solidFill>
                  <a:srgbClr val="1A1A1A"/>
                </a:solidFill>
                <a:latin typeface="Noto Serif Devanagari Black" pitchFamily="34" charset="0"/>
                <a:ea typeface="Noto Serif Devanagari Black" pitchFamily="34" charset="-122"/>
                <a:cs typeface="Noto Serif Devanagari Black" pitchFamily="34" charset="-120"/>
              </a:rPr>
              <a:t>TCP/IP Communication in Action:</a:t>
            </a:r>
            <a:endParaRPr lang="en-US" sz="4400" dirty="0"/>
          </a:p>
          <a:p>
            <a:pPr marL="0" indent="0" algn="l">
              <a:lnSpc>
                <a:spcPct val="83000"/>
              </a:lnSpc>
              <a:buNone/>
            </a:pPr>
            <a:r>
              <a:rPr lang="en-US" sz="4400" kern="0" spc="-88" dirty="0">
                <a:solidFill>
                  <a:srgbClr val="1A1A1A"/>
                </a:solidFill>
                <a:latin typeface="Noto Serif Devanagari Black" pitchFamily="34" charset="0"/>
                <a:ea typeface="Noto Serif Devanagari Black" pitchFamily="34" charset="-122"/>
                <a:cs typeface="Noto Serif Devanagari Black" pitchFamily="34" charset="-120"/>
              </a:rPr>
              <a:t>Opening a Secure Website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965176" y="5113338"/>
            <a:ext cx="3777759" cy="31651"/>
          </a:xfrm>
          <a:prstGeom prst="roundRect">
            <a:avLst>
              <a:gd name="adj" fmla="val 49998"/>
            </a:avLst>
          </a:prstGeom>
          <a:solidFill>
            <a:srgbClr val="1B4A9B"/>
          </a:solidFill>
          <a:ln/>
        </p:spPr>
      </p:sp>
      <p:sp>
        <p:nvSpPr>
          <p:cNvPr id="6" name="Text 4"/>
          <p:cNvSpPr/>
          <p:nvPr/>
        </p:nvSpPr>
        <p:spPr>
          <a:xfrm>
            <a:off x="965176" y="5343525"/>
            <a:ext cx="5638659" cy="546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1150"/>
              </a:spcAft>
              <a:buNone/>
            </a:pPr>
            <a:r>
              <a:rPr lang="en-US" sz="1150" kern="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FCDF-COHORT-11 · Level 1 Semester 1 · 30 Sept 2026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Presented by </a:t>
            </a:r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Abdulmalik Isah Gaya C11/26</a:t>
            </a:r>
            <a:r>
              <a:rPr lang="en-US" sz="1150" kern="0" spc="6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/FCDF17171</a:t>
            </a:r>
            <a:endParaRPr lang="en-US" sz="1150" kern="0" spc="6" dirty="0">
              <a:solidFill>
                <a:srgbClr val="1B4A9B"/>
              </a:solidFill>
              <a:latin typeface="Noto Sans Medium" pitchFamily="34" charset="0"/>
              <a:ea typeface="Noto Sans Medium" pitchFamily="34" charset="-122"/>
              <a:cs typeface="Noto Sans Medium" pitchFamily="34" charset="-120"/>
            </a:endParaRPr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 on behalf of TEAM-04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6431198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THE SCENARIO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5821614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0" spc="-17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One page load touches every layer of the stack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004020"/>
            <a:ext cx="5821614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 user opens </a:t>
            </a: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https://example.com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on a laptop.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Trace the packet from client to web server and back.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It covers DNS, TCP, TLS, HTTP, IP, MAC, ports, and security.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Devices: client laptop, access point/switch, router, internet, firewall, web server.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07457" y="609600"/>
            <a:ext cx="3474653" cy="4736802"/>
          </a:xfrm>
          <a:prstGeom prst="rect">
            <a:avLst/>
          </a:prstGeom>
          <a:solidFill>
            <a:srgbClr val="FFFFFF"/>
          </a:solidFill>
          <a:ln w="12700">
            <a:solidFill>
              <a:srgbClr val="1B4A9B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6355" y="698500"/>
            <a:ext cx="3296857" cy="45590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07457" y="5416252"/>
            <a:ext cx="408423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A single page load activates the complete stack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1514643" y="6452989"/>
            <a:ext cx="677052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The TCP/IP model has four layers, and each adds its own header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09585" y="1093391"/>
            <a:ext cx="10972526" cy="939800"/>
          </a:xfrm>
          <a:custGeom>
            <a:avLst/>
            <a:gdLst/>
            <a:ahLst/>
            <a:cxnLst/>
            <a:rect l="l" t="t" r="r" b="b"/>
            <a:pathLst>
              <a:path w="10972526" h="939800">
                <a:moveTo>
                  <a:pt x="9525" y="0"/>
                </a:moveTo>
                <a:lnTo>
                  <a:pt x="10963001" y="0"/>
                </a:lnTo>
                <a:arcTo wR="9525" hR="9525" stAng="16200000" swAng="5400000"/>
                <a:lnTo>
                  <a:pt x="10972526" y="939800"/>
                </a:lnTo>
                <a:lnTo>
                  <a:pt x="0" y="939800"/>
                </a:lnTo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E6EEFB"/>
          </a:solidFill>
          <a:ln/>
        </p:spPr>
      </p:sp>
      <p:sp>
        <p:nvSpPr>
          <p:cNvPr id="4" name="Shape 2"/>
          <p:cNvSpPr/>
          <p:nvPr/>
        </p:nvSpPr>
        <p:spPr>
          <a:xfrm>
            <a:off x="812780" y="1256903"/>
            <a:ext cx="244469" cy="244475"/>
          </a:xfrm>
          <a:prstGeom prst="ellipse">
            <a:avLst/>
          </a:prstGeom>
          <a:solidFill>
            <a:srgbClr val="1B4A9B"/>
          </a:solidFill>
          <a:ln w="6350">
            <a:solidFill>
              <a:srgbClr val="3463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5526" y="1309291"/>
            <a:ext cx="68856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84245" y="1220391"/>
            <a:ext cx="1019467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Application </a:t>
            </a:r>
            <a:r>
              <a:rPr lang="en-US" sz="1750" dirty="0">
                <a:solidFill>
                  <a:srgbClr val="4A4A4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· Data = message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84245" y="1629966"/>
            <a:ext cx="1039786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Services to the user. HTTP, DNS, TLS.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2033191"/>
            <a:ext cx="10972526" cy="939800"/>
          </a:xfrm>
          <a:prstGeom prst="rect">
            <a:avLst/>
          </a:prstGeom>
          <a:solidFill>
            <a:srgbClr val="FFF1CC"/>
          </a:solidFill>
          <a:ln/>
        </p:spPr>
      </p:sp>
      <p:sp>
        <p:nvSpPr>
          <p:cNvPr id="9" name="Shape 7"/>
          <p:cNvSpPr/>
          <p:nvPr/>
        </p:nvSpPr>
        <p:spPr>
          <a:xfrm>
            <a:off x="812780" y="2196703"/>
            <a:ext cx="244469" cy="244475"/>
          </a:xfrm>
          <a:prstGeom prst="ellipse">
            <a:avLst/>
          </a:prstGeom>
          <a:solidFill>
            <a:srgbClr val="1B4A9B"/>
          </a:solidFill>
          <a:ln w="6350">
            <a:solidFill>
              <a:srgbClr val="3463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526" y="2249091"/>
            <a:ext cx="68856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4245" y="2160191"/>
            <a:ext cx="1019467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Transport </a:t>
            </a:r>
            <a:r>
              <a:rPr lang="en-US" sz="1750" dirty="0">
                <a:solidFill>
                  <a:srgbClr val="4A4A4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· Data = segment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184245" y="2569766"/>
            <a:ext cx="1039786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End-to-end delivery, ports, reliability. TCP, UDP.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585" y="2972991"/>
            <a:ext cx="10972526" cy="939800"/>
          </a:xfrm>
          <a:prstGeom prst="rect">
            <a:avLst/>
          </a:prstGeom>
          <a:solidFill>
            <a:srgbClr val="FDE6DE"/>
          </a:solidFill>
          <a:ln/>
        </p:spPr>
      </p:sp>
      <p:sp>
        <p:nvSpPr>
          <p:cNvPr id="14" name="Shape 12"/>
          <p:cNvSpPr/>
          <p:nvPr/>
        </p:nvSpPr>
        <p:spPr>
          <a:xfrm>
            <a:off x="812780" y="3136503"/>
            <a:ext cx="244469" cy="244475"/>
          </a:xfrm>
          <a:prstGeom prst="ellipse">
            <a:avLst/>
          </a:prstGeom>
          <a:solidFill>
            <a:srgbClr val="1B4A9B"/>
          </a:solidFill>
          <a:ln w="6350">
            <a:solidFill>
              <a:srgbClr val="3463B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5526" y="3188891"/>
            <a:ext cx="68856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4245" y="3099991"/>
            <a:ext cx="1019467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Internet </a:t>
            </a:r>
            <a:r>
              <a:rPr lang="en-US" sz="1750" dirty="0">
                <a:solidFill>
                  <a:srgbClr val="4A4A4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· Data = packet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184245" y="3509566"/>
            <a:ext cx="1039786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Logical addressing and routing. IP.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09585" y="3912791"/>
            <a:ext cx="10972526" cy="939800"/>
          </a:xfrm>
          <a:custGeom>
            <a:avLst/>
            <a:gdLst/>
            <a:ahLst/>
            <a:cxnLst/>
            <a:rect l="l" t="t" r="r" b="b"/>
            <a:pathLst>
              <a:path w="10972526" h="939800">
                <a:moveTo>
                  <a:pt x="0" y="0"/>
                </a:moveTo>
                <a:lnTo>
                  <a:pt x="10972526" y="0"/>
                </a:lnTo>
                <a:lnTo>
                  <a:pt x="10972526" y="930275"/>
                </a:lnTo>
                <a:arcTo wR="9525" hR="9525" stAng="0" swAng="5400000"/>
                <a:lnTo>
                  <a:pt x="9525" y="939800"/>
                </a:lnTo>
                <a:arcTo wR="9525" hR="9525" stAng="5400000" swAng="5400000"/>
                <a:lnTo>
                  <a:pt x="0" y="0"/>
                </a:lnTo>
                <a:close/>
              </a:path>
            </a:pathLst>
          </a:custGeom>
          <a:solidFill>
            <a:srgbClr val="DDEFEC"/>
          </a:solidFill>
          <a:ln/>
        </p:spPr>
      </p:sp>
      <p:sp>
        <p:nvSpPr>
          <p:cNvPr id="19" name="Shape 17"/>
          <p:cNvSpPr/>
          <p:nvPr/>
        </p:nvSpPr>
        <p:spPr>
          <a:xfrm>
            <a:off x="812780" y="4076303"/>
            <a:ext cx="244469" cy="244475"/>
          </a:xfrm>
          <a:prstGeom prst="ellipse">
            <a:avLst/>
          </a:prstGeom>
          <a:solidFill>
            <a:srgbClr val="1B4A9B"/>
          </a:solidFill>
          <a:ln w="6350">
            <a:solidFill>
              <a:srgbClr val="3463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5526" y="4128691"/>
            <a:ext cx="688561" cy="1397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84245" y="4039791"/>
            <a:ext cx="10194670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Network Access </a:t>
            </a:r>
            <a:r>
              <a:rPr lang="en-US" sz="1750" dirty="0">
                <a:solidFill>
                  <a:srgbClr val="4A4A4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· Data = frame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184245" y="4449366"/>
            <a:ext cx="10397865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Physical transmission on the local link. Ethernet, Wi-Fi, ARP.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9585" y="5004991"/>
            <a:ext cx="1158211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Key principle: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each layer adds its own header, called encapsulation.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1514643" y="6452989"/>
            <a:ext cx="677052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3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9585" y="2026841"/>
            <a:ext cx="10972526" cy="12700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585" y="2966641"/>
            <a:ext cx="10972526" cy="12700"/>
          </a:xfrm>
          <a:prstGeom prst="rect">
            <a:avLst/>
          </a:prstGeom>
          <a:solidFill>
            <a:srgbClr val="1B4A9B"/>
          </a:solidFill>
          <a:ln/>
        </p:spPr>
      </p:sp>
      <p:sp>
        <p:nvSpPr>
          <p:cNvPr id="28" name="Shape 26"/>
          <p:cNvSpPr/>
          <p:nvPr/>
        </p:nvSpPr>
        <p:spPr>
          <a:xfrm>
            <a:off x="609585" y="3906441"/>
            <a:ext cx="10972526" cy="12700"/>
          </a:xfrm>
          <a:prstGeom prst="rect">
            <a:avLst/>
          </a:prstGeom>
          <a:solidFill>
            <a:srgbClr val="1B4A9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0" spc="-17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TCP/IP folds OSI's top three layers into one Application layer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727795"/>
          <a:ext cx="10972526" cy="2444688"/>
        </p:xfrm>
        <a:graphic>
          <a:graphicData uri="http://schemas.openxmlformats.org/drawingml/2006/table">
            <a:tbl>
              <a:tblPr/>
              <a:tblGrid>
                <a:gridCol w="37306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OSI model (7 layers)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TCP/IP (4 layers)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Purpose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7 Application, 6 Presentation, 5 Session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Application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HTTP, DNS, TLS, encryption, session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4 Transport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Transport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TCP port numbers, reliability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3 Network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Internet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IP addressing and routing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1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2 Data Link, 1 Physical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Network Access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MAC addressing, Wi-Fi/Ethernet frames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3" name="Text 2"/>
          <p:cNvSpPr/>
          <p:nvPr/>
        </p:nvSpPr>
        <p:spPr>
          <a:xfrm>
            <a:off x="11514643" y="6452989"/>
            <a:ext cx="677052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0" spc="-17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Four kinds of address get a packet from laptop to server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727795"/>
            <a:ext cx="5410065" cy="1866602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4" name="Text 2"/>
          <p:cNvSpPr/>
          <p:nvPr/>
        </p:nvSpPr>
        <p:spPr>
          <a:xfrm>
            <a:off x="838179" y="1930995"/>
            <a:ext cx="495287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IP address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38179" y="2414786"/>
            <a:ext cx="5181470" cy="320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192.168.1.10</a:t>
            </a: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→ </a:t>
            </a: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93.184.216.34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38179" y="2833886"/>
            <a:ext cx="518147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Routes across networks; changes only at NAT.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72046" y="1727795"/>
            <a:ext cx="5410065" cy="1866602"/>
          </a:xfrm>
          <a:prstGeom prst="rect">
            <a:avLst/>
          </a:prstGeom>
          <a:solidFill>
            <a:srgbClr val="FFF1CC"/>
          </a:solidFill>
          <a:ln/>
        </p:spPr>
      </p:sp>
      <p:sp>
        <p:nvSpPr>
          <p:cNvPr id="8" name="Text 6"/>
          <p:cNvSpPr/>
          <p:nvPr/>
        </p:nvSpPr>
        <p:spPr>
          <a:xfrm>
            <a:off x="6400640" y="1930995"/>
            <a:ext cx="495287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MAC address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640" y="2414786"/>
            <a:ext cx="5181470" cy="320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aa:bb:cc:11:22:33</a:t>
            </a: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→ router MAC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640" y="2833886"/>
            <a:ext cx="518147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Local delivery; changes every hop.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9585" y="3746798"/>
            <a:ext cx="5410065" cy="1866602"/>
          </a:xfrm>
          <a:prstGeom prst="rect">
            <a:avLst/>
          </a:prstGeom>
          <a:solidFill>
            <a:srgbClr val="FDE6DE"/>
          </a:solidFill>
          <a:ln/>
        </p:spPr>
      </p:sp>
      <p:sp>
        <p:nvSpPr>
          <p:cNvPr id="12" name="Text 10"/>
          <p:cNvSpPr/>
          <p:nvPr/>
        </p:nvSpPr>
        <p:spPr>
          <a:xfrm>
            <a:off x="838179" y="3949998"/>
            <a:ext cx="495287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Port numbers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8179" y="4433788"/>
            <a:ext cx="5181470" cy="320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54321</a:t>
            </a: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→ </a:t>
            </a: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443</a:t>
            </a: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(HTTPS)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38179" y="4852888"/>
            <a:ext cx="518147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Identifies the application process; </a:t>
            </a:r>
            <a:r>
              <a:rPr lang="en-US" sz="1150" kern="0" spc="6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netstat -an</a:t>
            </a:r>
            <a:r>
              <a:rPr lang="en-US" sz="1150" kern="0" spc="6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 shows 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72046" y="3746798"/>
            <a:ext cx="5410065" cy="1866602"/>
          </a:xfrm>
          <a:prstGeom prst="rect">
            <a:avLst/>
          </a:prstGeom>
          <a:solidFill>
            <a:srgbClr val="DDEFE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640" y="3949998"/>
            <a:ext cx="4952876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URL / FQDN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00640" y="4433788"/>
            <a:ext cx="5181470" cy="320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https://example.com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640" y="4852888"/>
            <a:ext cx="5181470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000000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Resolved by DNS before the connection begins.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1514643" y="6452989"/>
            <a:ext cx="677052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PACKET JOURNEY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885825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0" spc="-17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The request travels right, the response comes back left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501" y="1988145"/>
            <a:ext cx="8748593" cy="3936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036666" y="2048110"/>
            <a:ext cx="1534077" cy="26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00" kern="0" spc="-8" dirty="0">
                <a:solidFill>
                  <a:srgbClr val="1A1A1A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Client laptop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036666" y="2404345"/>
            <a:ext cx="1534077" cy="43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Encapsulation: HTTPS request starts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7484" y="3221708"/>
            <a:ext cx="341189" cy="34119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50148" y="5005160"/>
            <a:ext cx="1542825" cy="26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00" kern="0" spc="-8" dirty="0">
                <a:solidFill>
                  <a:srgbClr val="1A1A1A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Access Point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50148" y="5361395"/>
            <a:ext cx="1542825" cy="43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Wireless or switch relay</a:t>
            </a:r>
            <a:endParaRPr lang="en-US" sz="12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0966" y="4464018"/>
            <a:ext cx="341189" cy="3411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54881" y="2017490"/>
            <a:ext cx="1534077" cy="26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00" kern="0" spc="-8" dirty="0">
                <a:solidFill>
                  <a:srgbClr val="1A1A1A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Router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054881" y="2373725"/>
            <a:ext cx="1534077" cy="43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Routes packet toward internet</a:t>
            </a:r>
            <a:endParaRPr lang="en-US" sz="12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3195" y="3186713"/>
            <a:ext cx="341190" cy="3411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68363" y="5005160"/>
            <a:ext cx="1534077" cy="265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600" kern="0" spc="-8" dirty="0">
                <a:solidFill>
                  <a:srgbClr val="1A1A1A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Internet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7568363" y="5361395"/>
            <a:ext cx="1534077" cy="439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Transit across networks</a:t>
            </a:r>
            <a:endParaRPr lang="en-US" sz="12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69181" y="4464018"/>
            <a:ext cx="341189" cy="341198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09585" y="6077446"/>
            <a:ext cx="2925987" cy="504825"/>
          </a:xfrm>
          <a:prstGeom prst="rect">
            <a:avLst/>
          </a:prstGeom>
          <a:solidFill>
            <a:srgbClr val="1E7B4F"/>
          </a:solidFill>
          <a:ln/>
        </p:spPr>
      </p:sp>
      <p:sp>
        <p:nvSpPr>
          <p:cNvPr id="18" name="Text 11"/>
          <p:cNvSpPr/>
          <p:nvPr/>
        </p:nvSpPr>
        <p:spPr>
          <a:xfrm>
            <a:off x="787380" y="6191746"/>
            <a:ext cx="274819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Direction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3535572" y="6077446"/>
            <a:ext cx="8046539" cy="504825"/>
          </a:xfrm>
          <a:prstGeom prst="rect">
            <a:avLst/>
          </a:prstGeom>
          <a:solidFill>
            <a:srgbClr val="E6F4EC"/>
          </a:solidFill>
          <a:ln/>
        </p:spPr>
      </p:sp>
      <p:sp>
        <p:nvSpPr>
          <p:cNvPr id="20" name="Text 13"/>
          <p:cNvSpPr/>
          <p:nvPr/>
        </p:nvSpPr>
        <p:spPr>
          <a:xfrm>
            <a:off x="3713367" y="6191746"/>
            <a:ext cx="786874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Request: client → server · Response: server → client</a:t>
            </a:r>
            <a:endParaRPr lang="en-US" sz="1500" dirty="0"/>
          </a:p>
        </p:txBody>
      </p:sp>
      <p:sp>
        <p:nvSpPr>
          <p:cNvPr id="21" name="Shape 14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22" name="Text 15"/>
          <p:cNvSpPr/>
          <p:nvPr/>
        </p:nvSpPr>
        <p:spPr>
          <a:xfrm>
            <a:off x="11514643" y="6452989"/>
            <a:ext cx="677052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495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1B4A9B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Encapsulation wraps the request on the way down; decapsulation unwraps it at the server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09585" y="1456531"/>
            <a:ext cx="7863584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AT THE CLIENT · TOP TO BOTTOM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36542" y="1687512"/>
            <a:ext cx="7634989" cy="492125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5" name="Shape 3"/>
          <p:cNvSpPr/>
          <p:nvPr/>
        </p:nvSpPr>
        <p:spPr>
          <a:xfrm>
            <a:off x="787380" y="1862931"/>
            <a:ext cx="288918" cy="288925"/>
          </a:xfrm>
          <a:prstGeom prst="ellipse">
            <a:avLst/>
          </a:prstGeom>
          <a:solidFill>
            <a:srgbClr val="1B4A9B"/>
          </a:solidFill>
          <a:ln w="6350">
            <a:solidFill>
              <a:srgbClr val="3463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5108" y="1924844"/>
            <a:ext cx="70294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28694" y="1867694"/>
            <a:ext cx="70158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User types URL, HTTP GET request created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9585" y="2405856"/>
            <a:ext cx="7634989" cy="492125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9" name="Shape 7"/>
          <p:cNvSpPr/>
          <p:nvPr/>
        </p:nvSpPr>
        <p:spPr>
          <a:xfrm>
            <a:off x="787380" y="2507456"/>
            <a:ext cx="288918" cy="288925"/>
          </a:xfrm>
          <a:prstGeom prst="ellipse">
            <a:avLst/>
          </a:prstGeom>
          <a:solidFill>
            <a:srgbClr val="1B4A9B"/>
          </a:solidFill>
          <a:ln w="6350">
            <a:solidFill>
              <a:srgbClr val="3463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5108" y="2569369"/>
            <a:ext cx="70294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28694" y="2512219"/>
            <a:ext cx="70158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TLS adds encryption header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9585" y="3050381"/>
            <a:ext cx="7634989" cy="492125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87380" y="3151981"/>
            <a:ext cx="288918" cy="288925"/>
          </a:xfrm>
          <a:prstGeom prst="ellipse">
            <a:avLst/>
          </a:prstGeom>
          <a:solidFill>
            <a:srgbClr val="1B4A9B"/>
          </a:solidFill>
          <a:ln w="6350">
            <a:solidFill>
              <a:srgbClr val="3463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5108" y="3213894"/>
            <a:ext cx="70294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28694" y="3156744"/>
            <a:ext cx="70158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TCP adds header: src port 54321, dst port 443, sequence number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09585" y="3694906"/>
            <a:ext cx="7634989" cy="492125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87380" y="3796506"/>
            <a:ext cx="288918" cy="288925"/>
          </a:xfrm>
          <a:prstGeom prst="ellipse">
            <a:avLst/>
          </a:prstGeom>
          <a:solidFill>
            <a:srgbClr val="1B4A9B"/>
          </a:solidFill>
          <a:ln w="6350">
            <a:solidFill>
              <a:srgbClr val="3463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5108" y="3858419"/>
            <a:ext cx="70294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28694" y="3801269"/>
            <a:ext cx="70158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IP adds header: src IP, dst IP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9585" y="4339431"/>
            <a:ext cx="7634989" cy="492125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21" name="Shape 19"/>
          <p:cNvSpPr/>
          <p:nvPr/>
        </p:nvSpPr>
        <p:spPr>
          <a:xfrm>
            <a:off x="787380" y="4441031"/>
            <a:ext cx="288918" cy="288925"/>
          </a:xfrm>
          <a:prstGeom prst="ellipse">
            <a:avLst/>
          </a:prstGeom>
          <a:solidFill>
            <a:srgbClr val="1B4A9B"/>
          </a:solidFill>
          <a:ln w="6350">
            <a:solidFill>
              <a:srgbClr val="3463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5108" y="4502944"/>
            <a:ext cx="70294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28694" y="4445794"/>
            <a:ext cx="70158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Ethernet adds header: src MAC, dst MAC (default gateway), FCS trailer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09585" y="4983956"/>
            <a:ext cx="7634989" cy="492125"/>
          </a:xfrm>
          <a:prstGeom prst="rect">
            <a:avLst/>
          </a:prstGeom>
          <a:solidFill>
            <a:srgbClr val="E6EEFB"/>
          </a:solidFill>
          <a:ln/>
        </p:spPr>
      </p:sp>
      <p:sp>
        <p:nvSpPr>
          <p:cNvPr id="25" name="Shape 23"/>
          <p:cNvSpPr/>
          <p:nvPr/>
        </p:nvSpPr>
        <p:spPr>
          <a:xfrm>
            <a:off x="787380" y="5085556"/>
            <a:ext cx="288918" cy="288925"/>
          </a:xfrm>
          <a:prstGeom prst="ellipse">
            <a:avLst/>
          </a:prstGeom>
          <a:solidFill>
            <a:srgbClr val="1B4A9B"/>
          </a:solidFill>
          <a:ln w="6350">
            <a:solidFill>
              <a:srgbClr val="3463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5108" y="5147469"/>
            <a:ext cx="702947" cy="165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228694" y="5090319"/>
            <a:ext cx="701588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Converted to bits, sent as Wi-Fi radio waves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752562" y="1456531"/>
            <a:ext cx="282954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AT THE SERVER · BOTTOM TO TOP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752562" y="1761331"/>
            <a:ext cx="2829549" cy="218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Remove Ethernet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Remove IP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Remove TCP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Decrypt TLS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Deliver HTTP to Apache/Nginx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6"/>
            </a:pP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Generate </a:t>
            </a: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OK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response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11514643" y="6452989"/>
            <a:ext cx="677052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7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466819" y="1456531"/>
            <a:ext cx="12700" cy="4156869"/>
          </a:xfrm>
          <a:prstGeom prst="rect">
            <a:avLst/>
          </a:prstGeom>
          <a:solidFill>
            <a:srgbClr val="1B4A9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391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kern="0" spc="-14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Protocol analysis: what each layer does for one page load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609585" y="1168995"/>
          <a:ext cx="5486400" cy="12039572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49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Layer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Protocol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PDU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Addressing / fields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B4A9B"/>
                          </a:solidFill>
                          <a:latin typeface="Noto Sans" pitchFamily="34" charset="0"/>
                          <a:ea typeface="Noto Sans" pitchFamily="34" charset="-122"/>
                          <a:cs typeface="Noto Sans" pitchFamily="34" charset="-120"/>
                        </a:rPr>
                        <a:t>Purpose</a:t>
                      </a: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Noto Sans" charset="0"/>
                        <a:ea typeface="Noto Sans" charset="0"/>
                        <a:cs typeface="Noto Sans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1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App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DNS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Query/Response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Query: example.com, Type A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Resolves FQDN to IP 93.184.216.34, uses UDP 53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1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App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TLS 1.3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Record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ClientHello, server cert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Encryption, authentication, integrity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1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App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HTTPS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Request/Response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GET / HTTP/1.1, Host, 200 OK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Transfers web content securely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Transport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TCP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Segment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Ports 54321 to 443, SYN, ACK, SEQ 1000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Reliable 3-way handshake, ordering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118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Internet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IP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Packet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Src 192.168.1.10, Dst 93.184.216.34, TTL 64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Routes packet source to destination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5F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48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Network Access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Ethernet / Wi-Fi / ARP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Frame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Src MAC, Dst MAC, Type 0x0800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A1A1A"/>
                          </a:solidFill>
                          <a:latin typeface="Noto Serif Devanagari" pitchFamily="34" charset="0"/>
                          <a:ea typeface="Noto Serif Devanagari" pitchFamily="34" charset="-122"/>
                          <a:cs typeface="Noto Serif Devanagari" pitchFamily="34" charset="-120"/>
                        </a:rPr>
                        <a:t>Delivers frame on the local segment</a:t>
                      </a: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Noto Serif Devanagari" charset="0"/>
                        <a:ea typeface="Noto Serif Devanagari" charset="0"/>
                        <a:cs typeface="Noto Serif Devanagari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4A9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11514643" y="6452989"/>
            <a:ext cx="677052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0" spc="-17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A secure website must use TCP, because UDP would lose parts of the page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09585" y="1727795"/>
            <a:ext cx="5486263" cy="3202980"/>
          </a:xfrm>
          <a:custGeom>
            <a:avLst/>
            <a:gdLst/>
            <a:ahLst/>
            <a:cxnLst/>
            <a:rect l="l" t="t" r="r" b="b"/>
            <a:pathLst>
              <a:path w="5486263" h="3202980">
                <a:moveTo>
                  <a:pt x="9525" y="0"/>
                </a:moveTo>
                <a:lnTo>
                  <a:pt x="5486263" y="0"/>
                </a:lnTo>
                <a:lnTo>
                  <a:pt x="5486263" y="3202980"/>
                </a:lnTo>
                <a:lnTo>
                  <a:pt x="9525" y="3202980"/>
                </a:lnTo>
                <a:arcTo wR="9525" hR="9525" stAng="5400000" swAng="5400000"/>
                <a:lnTo>
                  <a:pt x="0" y="9525"/>
                </a:lnTo>
                <a:arcTo wR="9525" hR="9525" stAng="10800000" swAng="5400000"/>
                <a:close/>
              </a:path>
            </a:pathLst>
          </a:custGeom>
          <a:solidFill>
            <a:srgbClr val="E6EEFB"/>
          </a:solidFill>
          <a:ln/>
        </p:spPr>
      </p:sp>
      <p:sp>
        <p:nvSpPr>
          <p:cNvPr id="4" name="Text 2"/>
          <p:cNvSpPr/>
          <p:nvPr/>
        </p:nvSpPr>
        <p:spPr>
          <a:xfrm>
            <a:off x="863578" y="1981795"/>
            <a:ext cx="523226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13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TCP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3578" y="2258020"/>
            <a:ext cx="497827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Reliable, ordered delivery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3578" y="2741811"/>
            <a:ext cx="4978275" cy="1228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Connection-oriented: SYN, SYN-ACK, ACK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ACK and retransmission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Ordered; slower; 20-byte header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HTTPS 443, SMTP 587, FTP 21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95848" y="1727795"/>
            <a:ext cx="5486263" cy="3202980"/>
          </a:xfrm>
          <a:custGeom>
            <a:avLst/>
            <a:gdLst/>
            <a:ahLst/>
            <a:cxnLst/>
            <a:rect l="l" t="t" r="r" b="b"/>
            <a:pathLst>
              <a:path w="5486263" h="3202980">
                <a:moveTo>
                  <a:pt x="0" y="0"/>
                </a:moveTo>
                <a:lnTo>
                  <a:pt x="5476738" y="0"/>
                </a:lnTo>
                <a:arcTo wR="9525" hR="9525" stAng="16200000" swAng="5400000"/>
                <a:lnTo>
                  <a:pt x="5486263" y="3193455"/>
                </a:lnTo>
                <a:arcTo wR="9525" hR="9525" stAng="0" swAng="5400000"/>
                <a:lnTo>
                  <a:pt x="0" y="3202980"/>
                </a:lnTo>
                <a:lnTo>
                  <a:pt x="0" y="0"/>
                </a:lnTo>
                <a:close/>
              </a:path>
            </a:pathLst>
          </a:custGeom>
          <a:solidFill>
            <a:srgbClr val="FFF1CC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981795"/>
            <a:ext cx="5232269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13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UDP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49841" y="2258020"/>
            <a:ext cx="4978275" cy="363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Fast, best-effort delivery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349841" y="2741811"/>
            <a:ext cx="4978275" cy="911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Connectionless; no handshake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Unordered; fast; 8-byte header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DNS 53, Zoom media, DHCP 67/68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9585" y="5083175"/>
            <a:ext cx="2560177" cy="530225"/>
          </a:xfrm>
          <a:prstGeom prst="rect">
            <a:avLst/>
          </a:prstGeom>
          <a:solidFill>
            <a:srgbClr val="1E7B4F"/>
          </a:solidFill>
          <a:ln/>
        </p:spPr>
      </p:sp>
      <p:sp>
        <p:nvSpPr>
          <p:cNvPr id="12" name="Text 10"/>
          <p:cNvSpPr/>
          <p:nvPr/>
        </p:nvSpPr>
        <p:spPr>
          <a:xfrm>
            <a:off x="787380" y="5210175"/>
            <a:ext cx="2382381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169761" y="5083175"/>
            <a:ext cx="8412349" cy="530225"/>
          </a:xfrm>
          <a:prstGeom prst="rect">
            <a:avLst/>
          </a:prstGeom>
          <a:solidFill>
            <a:srgbClr val="E6F4EC"/>
          </a:solidFill>
          <a:ln/>
        </p:spPr>
      </p:sp>
      <p:sp>
        <p:nvSpPr>
          <p:cNvPr id="14" name="Text 12"/>
          <p:cNvSpPr/>
          <p:nvPr/>
        </p:nvSpPr>
        <p:spPr>
          <a:xfrm>
            <a:off x="3347557" y="5210175"/>
            <a:ext cx="8234553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HTTPS needs TCP so page parts arrive reliably and in order.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1514643" y="6452989"/>
            <a:ext cx="677052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9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89498" y="1727795"/>
            <a:ext cx="12700" cy="3202980"/>
          </a:xfrm>
          <a:prstGeom prst="rect">
            <a:avLst/>
          </a:prstGeom>
          <a:solidFill>
            <a:srgbClr val="1B4A9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726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600" kern="0" spc="-13" dirty="0">
                <a:solidFill>
                  <a:srgbClr val="1B4A9B"/>
                </a:solidFill>
                <a:latin typeface="Noto Serif Devanagari ExtraBold" pitchFamily="34" charset="0"/>
                <a:ea typeface="Noto Serif Devanagari ExtraBold" pitchFamily="34" charset="-122"/>
                <a:cs typeface="Noto Serif Devanagari ExtraBold" pitchFamily="34" charset="-120"/>
              </a:rPr>
              <a:t>Troubleshooting a DNS failure: work bottom-up through the layers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09585" y="1504156"/>
            <a:ext cx="11582110" cy="320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Failure: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</a:t>
            </a: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https://example.com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shows </a:t>
            </a: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DNS_PROBE_FINISHED_NXDOMAIN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and the page will not load.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585" y="1977231"/>
            <a:ext cx="6354901" cy="2597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Physical: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Is Wi-Fi connected? </a:t>
            </a: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ipconfig /all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; do we have an IP?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Connectivity: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</a:t>
            </a: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8.8.8.8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; if OK, the internet works.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DNS: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</a:t>
            </a: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nslookup example.com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; then </a:t>
            </a: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nslookup example.com 8.8.8.8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IP reach: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</a:t>
            </a:r>
            <a:r>
              <a:rPr lang="en-US" sz="15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ping 93.184.216.34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; IP works but name fails = DNS failure.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500" b="1" dirty="0">
                <a:solidFill>
                  <a:srgbClr val="1A1A1A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Firewall/router:</a:t>
            </a:r>
            <a:r>
              <a:rPr lang="en-US" sz="150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 Is port 53 blocked? Check the rule in the NSLAB firewall VM.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447074" y="1977231"/>
            <a:ext cx="4135036" cy="1447800"/>
          </a:xfrm>
          <a:prstGeom prst="rect">
            <a:avLst/>
          </a:prstGeom>
          <a:solidFill>
            <a:srgbClr val="E6F4EC"/>
          </a:solidFill>
          <a:ln/>
        </p:spPr>
      </p:sp>
      <p:sp>
        <p:nvSpPr>
          <p:cNvPr id="6" name="Text 4"/>
          <p:cNvSpPr/>
          <p:nvPr/>
        </p:nvSpPr>
        <p:spPr>
          <a:xfrm>
            <a:off x="7599470" y="2104231"/>
            <a:ext cx="3830244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erif Devanagari Bold" pitchFamily="34" charset="0"/>
                <a:ea typeface="Noto Serif Devanagari Bold" pitchFamily="34" charset="-122"/>
                <a:cs typeface="Noto Serif Devanagari Bold" pitchFamily="34" charset="-120"/>
              </a:rPr>
              <a:t>Resolution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ipconfig /flushdns</a:t>
            </a: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; switch DNS to </a:t>
            </a:r>
            <a:r>
              <a:rPr lang="en-US" sz="15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1.1.1.1 / 8.8.8.8</a:t>
            </a:r>
            <a:r>
              <a:rPr lang="en-US" sz="1500" dirty="0">
                <a:solidFill>
                  <a:srgbClr val="000000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; restart the DNS Client service; check router DNS config.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47074" y="3523456"/>
            <a:ext cx="4135036" cy="206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kern="0" spc="13" dirty="0">
                <a:solidFill>
                  <a:srgbClr val="1B4A9B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47074" y="3828256"/>
            <a:ext cx="4135036" cy="18727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IETF RFC 791 (Internet Protocol), RFC 793 (TCP), RFC 8446 (TLS 1.3), ietf.org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Cisco Networking Academy, TCP/IP and OSI Model, cisco.com</a:t>
            </a:r>
            <a:endParaRPr lang="en-US" sz="1150" dirty="0"/>
          </a:p>
          <a:p>
            <a:pPr marL="0" indent="0" algn="l">
              <a:lnSpc>
                <a:spcPct val="113000"/>
              </a:lnSpc>
              <a:spcAft>
                <a:spcPts val="750"/>
              </a:spcAft>
              <a:buNone/>
            </a:pPr>
            <a:r>
              <a:rPr lang="en-US" sz="1150" kern="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Cloudflare Learning Center, How DNS and HTTPS Work, cloudflare.com/learning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6" dirty="0">
                <a:solidFill>
                  <a:srgbClr val="1B4A9B"/>
                </a:solidFill>
                <a:latin typeface="Noto Sans Medium" pitchFamily="34" charset="0"/>
                <a:ea typeface="Noto Sans Medium" pitchFamily="34" charset="-122"/>
                <a:cs typeface="Noto Sans Medium" pitchFamily="34" charset="-120"/>
              </a:rPr>
              <a:t>AI declaration: AI tool used for diagram generation and draft structuring, verified by the student against official sources.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0" y="6223000"/>
            <a:ext cx="12191695" cy="9525"/>
          </a:xfrm>
          <a:prstGeom prst="rect">
            <a:avLst/>
          </a:prstGeom>
          <a:solidFill>
            <a:srgbClr val="1A1A1A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1447176" y="6452989"/>
            <a:ext cx="744519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Noto Serif Devanagari" pitchFamily="34" charset="0"/>
                <a:ea typeface="Noto Serif Devanagari" pitchFamily="34" charset="-122"/>
                <a:cs typeface="Noto Serif Devanagari" pitchFamily="34" charset="-120"/>
              </a:rPr>
              <a:t>10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86730" y="1977231"/>
            <a:ext cx="12700" cy="3723779"/>
          </a:xfrm>
          <a:prstGeom prst="rect">
            <a:avLst/>
          </a:prstGeom>
          <a:solidFill>
            <a:srgbClr val="1B4A9B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1240</Words>
  <Application>Microsoft Office PowerPoint</Application>
  <PresentationFormat>Widescreen</PresentationFormat>
  <Paragraphs>183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Noto Sans Bold</vt:lpstr>
      <vt:lpstr>Noto Serif Devanagari Black</vt:lpstr>
      <vt:lpstr>Noto Sans Medium</vt:lpstr>
      <vt:lpstr>Noto Sans</vt:lpstr>
      <vt:lpstr>Noto Serif Devanagari Bold</vt:lpstr>
      <vt:lpstr>Consolas</vt:lpstr>
      <vt:lpstr>Noto Serif Devanagari ExtraBold</vt:lpstr>
      <vt:lpstr>Arial</vt:lpstr>
      <vt:lpstr>Noto Serif Devanagari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Abdulmalik Isah Gaya</cp:lastModifiedBy>
  <cp:revision>10</cp:revision>
  <dcterms:created xsi:type="dcterms:W3CDTF">2026-10-01T12:57:24Z</dcterms:created>
  <dcterms:modified xsi:type="dcterms:W3CDTF">2026-10-02T13:04:41Z</dcterms:modified>
</cp:coreProperties>
</file>